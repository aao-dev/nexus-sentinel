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Presento Nexus Sentinel: un sistema que detecta el uso indebido de credenciales legítimas, el problema UEBA. Voy a arrancar con un caso real que costó cientos de millones de dólares y que mi proyecto habría podido atajar.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2013 Target sufrió una de las brechas más famosas de la historia. El origen no fue un hackeo sofisticado: fue una credencial legítima robada a un proveedor de aire acondicionado. 40 millones de tarjetas, 70 millones de clientes, más de 200 millones de dólares. Una empresa de altísimo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anatomía es la clave: credencial robada, movimiento lateral hacia sistemas que la cuenta nunca debía tocar, malware en las cajas, y tres semanas de invisibilidad. Nada de esto violó una regla explícita; por eso las defensas perimetrales no lo pararon.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Hubo dos fallas. Primera: las alertas sí existían, pero sin priorización nadie las revisó. Segunda: cada evento era válido, la señal solo estaba en el patrón. Mi proyecto ataca precisamente esas dos fallas.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la solución parte de una idea: el modelo no debe ver eventos, sino desviaciones. Para cada usuario construyo una línea base y mido cuánto se aleja de ella. Veamos cómo, con datos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Usé datos reales de Los Álamos: mil millones de eventos, ataques reales de red team. El desbalance es extremo, 1 de cada 265, lo que define toda la estrategia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corazón técnico son cuatro niveles de desviación. El cuarto —la novedad de conexiones en el grafo— es justo lo que habría delatado a Target: una credencial de HVAC tocando cajas registradoras que nunca había visto.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central es un XGBoost calibrado que convierte todo en una puntuación de riesgo de 0 a 100, con semáforo y explicación SHAP. La cuenta de Target habría salido en rojo, arriba del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historia visual del proyecto y también aparece en la interfaz: el grafo de conexiones de una cuenta comprometida. En rojo, los destinos nuevos del día del ataque. Es exactamente lo que le pasó a Target, hecho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cuarta pieza resuelve directamente la falla de Target: una cola priorizada, cada caso explicado con SHAP, siempre con un humano decidiendo, y un asistente conversacional que guía. Las alertas ya no se pierden.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puente con el negocio: el sistema convierte mil millones de eventos en una lista corta. Con 20 alertas al día se cubre un tercio de las cuentas comprometidas; con 100, el 85 por ciento. Eso es lenguaje que un CISO entiende.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Cierro con el mensaje central: convertimos lo que para Target fue una brecha de más de 200 millones en una lista corta, priorizada y explicada. Ahora paso a la demostración en vivo de la interfaz.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891272" y="-1463040"/>
            <a:ext cx="5029200" cy="5029200"/>
          </a:xfrm>
          <a:prstGeom prst="roundRect">
            <a:avLst>
              <a:gd name="adj" fmla="val 3636"/>
            </a:avLst>
          </a:prstGeom>
          <a:solidFill>
            <a:srgbClr val="1A2C4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371600"/>
            <a:ext cx="256032" cy="256032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371600"/>
            <a:ext cx="256032" cy="256032"/>
          </a:xfrm>
          <a:prstGeom prst="ellipse">
            <a:avLst/>
          </a:prstGeom>
          <a:solidFill>
            <a:srgbClr val="EDA100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371600"/>
            <a:ext cx="256032" cy="256032"/>
          </a:xfrm>
          <a:prstGeom prst="ellipse">
            <a:avLst/>
          </a:prstGeom>
          <a:solidFill>
            <a:srgbClr val="E3494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SENTINEL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uso indebido de credenciales mediante analítica de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de usuarios y entidades (UEBA)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50292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Diplomado en Ciencia de Datos, Generación 33
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Arellano Ortiz Andre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NO ES HIPOTÉTICO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Target, 2013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Atacantes robaron la credencial de un proveedor de climatización (HVAC) y la usaron para moverse por la red hasta las cajas registradoras. Nadie los detuvo durante tres semanas.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1A2C4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6576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47091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de crédito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comprometidas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338328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1A2C47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36576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70M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343400" y="47091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con datos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personales expuestos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338328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1A2C47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36576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+$200M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8046720" y="47091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en costos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directos e indirectos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Sentinel  ·  Diplomado en Ciencia de Datos G33  ·  Arellano Ortiz Andre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del ataque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 estas etapas rompió una regla: cada autenticación era, técnicamente, válida.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98348" y="192024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35608" y="2148840"/>
            <a:ext cx="731520" cy="7315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6" name="Text 4"/>
          <p:cNvSpPr/>
          <p:nvPr/>
        </p:nvSpPr>
        <p:spPr>
          <a:xfrm>
            <a:off x="1435608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5508" y="3063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 robada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1228" y="365760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roba la credencial de un proveedor externo de climatización (HVAC).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58668" y="31089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9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360420" y="192024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2148840"/>
            <a:ext cx="731520" cy="731520"/>
          </a:xfrm>
          <a:prstGeom prst="ellipse">
            <a:avLst/>
          </a:prstGeom>
          <a:solidFill>
            <a:srgbClr val="EDA100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97580" y="3063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lateral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43300" y="365760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esa cuenta legítima, el atacante salta a sistemas internos que jamás debía tocar.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20740" y="31089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9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222492" y="192024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59752" y="2148840"/>
            <a:ext cx="731520" cy="731520"/>
          </a:xfrm>
          <a:prstGeom prst="ellipse">
            <a:avLst/>
          </a:prstGeom>
          <a:solidFill>
            <a:srgbClr val="E34948"/>
          </a:solidFill>
          <a:ln/>
        </p:spPr>
      </p:sp>
      <p:sp>
        <p:nvSpPr>
          <p:cNvPr id="18" name="Text 16"/>
          <p:cNvSpPr/>
          <p:nvPr/>
        </p:nvSpPr>
        <p:spPr>
          <a:xfrm>
            <a:off x="7159752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59652" y="3063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registradoras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5372" y="365760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malware en los puntos de venta de 1,797 tiendas y captura cada tarjeta.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82812" y="31089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9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084564" y="192024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21824" y="2148840"/>
            <a:ext cx="731520" cy="731520"/>
          </a:xfrm>
          <a:prstGeom prst="ellipse">
            <a:avLst/>
          </a:prstGeom>
          <a:solidFill>
            <a:srgbClr val="6D2233"/>
          </a:solidFill>
          <a:ln/>
        </p:spPr>
      </p:sp>
      <p:sp>
        <p:nvSpPr>
          <p:cNvPr id="24" name="Text 22"/>
          <p:cNvSpPr/>
          <p:nvPr/>
        </p:nvSpPr>
        <p:spPr>
          <a:xfrm>
            <a:off x="10021824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221724" y="3063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semanas invisible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267444" y="365760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actividad pasa desapercibida durante casi un mes antes de ser detectada.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Sentinel  ·  Diplomado en Ciencia de Datos G33  ·  Arellano Ortiz Andre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las defensas tradicionales fallaron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737360"/>
            <a:ext cx="521208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25880" y="2148840"/>
            <a:ext cx="777240" cy="777240"/>
          </a:xfrm>
          <a:prstGeom prst="ellipse">
            <a:avLst/>
          </a:prstGeom>
          <a:solidFill>
            <a:srgbClr val="E34948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286000" y="2286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priorización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3200400"/>
            <a:ext cx="4297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Target (FireEye) SÍ generó alertas del malware… pero nadie las investigó. Se ahogaron en un mar de avisos sin priorizar.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31636" y="1737360"/>
            <a:ext cx="521208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43116" y="2148840"/>
            <a:ext cx="777240" cy="777240"/>
          </a:xfrm>
          <a:prstGeom prst="ellipse">
            <a:avLst/>
          </a:prstGeom>
          <a:solidFill>
            <a:srgbClr val="EDA100"/>
          </a:solidFill>
          <a:ln/>
        </p:spPr>
      </p:sp>
      <p:sp>
        <p:nvSpPr>
          <p:cNvPr id="10" name="Text 8"/>
          <p:cNvSpPr/>
          <p:nvPr/>
        </p:nvSpPr>
        <p:spPr>
          <a:xfrm>
            <a:off x="6643116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603236" y="2286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explicación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88836" y="3200400"/>
            <a:ext cx="4297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autenticación individual era válida. La anomalía solo existía en el PATRÓN de comportamiento, invisible a una regla por evento.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562356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Sentinel ataca exactamente estas dos fallas: prioriza y explica.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Sentinel  ·  Diplomado en Ciencia de Datos G33  ·  Arellano Ortiz Andre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7276" y="1463040"/>
            <a:ext cx="329184" cy="329184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3" name="Shape 1"/>
          <p:cNvSpPr/>
          <p:nvPr/>
        </p:nvSpPr>
        <p:spPr>
          <a:xfrm>
            <a:off x="6076188" y="1463040"/>
            <a:ext cx="329184" cy="329184"/>
          </a:xfrm>
          <a:prstGeom prst="ellipse">
            <a:avLst/>
          </a:prstGeom>
          <a:solidFill>
            <a:srgbClr val="EDA100"/>
          </a:solidFill>
          <a:ln/>
        </p:spPr>
      </p:sp>
      <p:sp>
        <p:nvSpPr>
          <p:cNvPr id="4" name="Shape 2"/>
          <p:cNvSpPr/>
          <p:nvPr/>
        </p:nvSpPr>
        <p:spPr>
          <a:xfrm>
            <a:off x="6515100" y="1463040"/>
            <a:ext cx="329184" cy="329184"/>
          </a:xfrm>
          <a:prstGeom prst="ellipse">
            <a:avLst/>
          </a:prstGeom>
          <a:solidFill>
            <a:srgbClr val="E34948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2860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tesis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2743200"/>
            <a:ext cx="121889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no ve eventos.</a:t>
            </a:r>
            <a:endParaRPr lang="en-US" sz="4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desviaciones.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0" y="45720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delata a una cuenta comprometida no es un evento aislado, sino cuánto se desvía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comportamiento habitual de ese usuario, de sus pares y de su propia historia de conexiones.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reales, no sintéticos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autenticación de la red corporativa real de Los Alamos National Laboratory,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ataques reales de un equipo de red team como verdad de terreno.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5146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6974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1,051 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2377440"/>
            <a:ext cx="25146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26974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12,425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83280" y="36118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en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días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2377440"/>
            <a:ext cx="25146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26974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126480" y="36118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realmente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comprometidas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69680" y="2377440"/>
            <a:ext cx="25146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0" y="26974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0.38 %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869680" y="36118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días son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maliciosos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desbalance extremo (1 caso malicioso por cada 265) descarta la exactitud como métrica: un modelo que diga «todo normal» acierta el 99.6 % siendo inútil.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Sentinel  ·  Diplomado en Ciencia de Datos G33  ·  Arellano Ortiz Andre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1 · </a:t>
            </a:r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variables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niveles de desviación. Cada uno cubre un punto ciego que un atacante disciplinado explotaría.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0350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9384"/>
            <a:ext cx="457200" cy="45720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9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hizo hoy?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Volumen, alcance, fallos y protocolo del día (variables crudas).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60350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889504"/>
            <a:ext cx="457200" cy="45720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89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743200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¿Distinto a su pasado?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Desviación z contra la propia línea base histórica del usuario.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60350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849624"/>
            <a:ext cx="457200" cy="457200"/>
          </a:xfrm>
          <a:prstGeom prst="ellipse">
            <a:avLst/>
          </a:prstGeom>
          <a:solidFill>
            <a:srgbClr val="EDA10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849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703320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¿Distinto a sus pares?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contra su grupo de comportamiento (clustering).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60350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809744"/>
            <a:ext cx="457200" cy="457200"/>
          </a:xfrm>
          <a:prstGeom prst="ellipse">
            <a:avLst/>
          </a:prstGeom>
          <a:solidFill>
            <a:srgbClr val="E3494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4663440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¿Grafo nuevo?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Máquinas que la cuenta JAMÁS había tocado: la novedad de conexiones.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0" y="1737360"/>
            <a:ext cx="4206240" cy="3675888"/>
          </a:xfrm>
          <a:prstGeom prst="roundRect">
            <a:avLst>
              <a:gd name="adj" fmla="val 2488"/>
            </a:avLst>
          </a:prstGeom>
          <a:solidFill>
            <a:srgbClr val="0E1E33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caso Target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89520" y="25146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credencial del proveedor de HVAC autenticándose contra las cajas registradoras —máquinas que esa cuenta nunca había tocado— es exactamente el nivel 4: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89520" y="43434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novedad de conexiones,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señal más fuerte.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Sentinel  ·  Diplomado en Ciencia de Datos G33  ·  Arellano Ortiz Andre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2 · </a:t>
            </a:r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y la puntuación de riesgo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747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783080"/>
            <a:ext cx="548640" cy="54864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18105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calibrado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supervisado central, entrenado con las etiquetas reales del red team.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2286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4747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783080"/>
            <a:ext cx="548640" cy="548640"/>
          </a:xfrm>
          <a:prstGeom prst="ellipse">
            <a:avLst/>
          </a:prstGeom>
          <a:solidFill>
            <a:srgbClr val="EDA100"/>
          </a:solidFill>
          <a:ln/>
        </p:spPr>
      </p:sp>
      <p:sp>
        <p:nvSpPr>
          <p:cNvPr id="10" name="Text 8"/>
          <p:cNvSpPr/>
          <p:nvPr/>
        </p:nvSpPr>
        <p:spPr>
          <a:xfrm>
            <a:off x="5349240" y="18105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0–100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5146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puntuación única, interpretable y priorizable para cada usuario-día.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63840" y="2286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C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4747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0" y="1783080"/>
            <a:ext cx="548640" cy="548640"/>
          </a:xfrm>
          <a:prstGeom prst="ellipse">
            <a:avLst/>
          </a:prstGeom>
          <a:solidFill>
            <a:srgbClr val="E34948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18105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+ SHAP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0" y="25146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verde / naranja / rojo, SIEMPRE acompañado de su explicación.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10908792" cy="1554480"/>
          </a:xfrm>
          <a:prstGeom prst="roundRect">
            <a:avLst>
              <a:gd name="adj" fmla="val 5882"/>
            </a:avLst>
          </a:prstGeom>
          <a:solidFill>
            <a:srgbClr val="0E1E33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297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caso Target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709160"/>
            <a:ext cx="10177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cuenta del proveedor habría recibido un riesgo cercano a 100 y aparecido en ROJO, al tope de la cola de triaje —no perdida entre miles de alertas sin ordenar.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Sentinel  ·  Diplomado en Ciencia de Datos G33  ·  Arellano Ortiz Andre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3 · </a:t>
            </a:r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movimiento lateral, hecho visible</a:t>
            </a:r>
            <a:endParaRPr lang="en-US" sz="2700" dirty="0"/>
          </a:p>
        </p:txBody>
      </p:sp>
      <p:pic>
        <p:nvPicPr>
          <p:cNvPr id="3" name="Image 0" descr="img/fig3_grafo_e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7406640" cy="4206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0" y="1737360"/>
            <a:ext cx="3319272" cy="3566160"/>
          </a:xfrm>
          <a:prstGeom prst="roundRect">
            <a:avLst>
              <a:gd name="adj" fmla="val 2755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458200" y="1965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vs. durante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458200" y="2468880"/>
            <a:ext cx="2880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gris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los destinos que la cuenta ya conocía.
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34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rojo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los que tocó por primera vez el día del ataque.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misma expansión de conexiones que sufrió Target, ahora imposible de ignorar.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Sentinel  ·  Diplomado en Ciencia de Datos G33  ·  Arellano Ortiz Andre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4 · </a:t>
            </a:r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Triaje priorizado y explicado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directa a la falla de Target: las alertas ya no se pierden, llegan ordenadas y justificadas.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640080" cy="640080"/>
          </a:xfrm>
          <a:prstGeom prst="ellipse">
            <a:avLst/>
          </a:prstGeom>
          <a:solidFill>
            <a:srgbClr val="E34948"/>
          </a:solidFill>
          <a:ln/>
        </p:spPr>
      </p:sp>
      <p:sp>
        <p:nvSpPr>
          <p:cNvPr id="6" name="Text 4"/>
          <p:cNvSpPr/>
          <p:nvPr/>
        </p:nvSpPr>
        <p:spPr>
          <a:xfrm>
            <a:off x="1783080" y="20574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priorizada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casos ordenados por riesgo, con un motivo en una línea. El analista ataca primero lo que importa.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0" y="2103120"/>
            <a:ext cx="640080" cy="640080"/>
          </a:xfrm>
          <a:prstGeom prst="ellipse">
            <a:avLst/>
          </a:prstGeom>
          <a:solidFill>
            <a:srgbClr val="EDA100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0" y="20574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 SHAP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2697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puntuación viaja con su porqué: qué señales la dispararon y cómo se compara con su base y sus pares.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0120" y="3977640"/>
            <a:ext cx="640080" cy="640080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4" name="Text 12"/>
          <p:cNvSpPr/>
          <p:nvPr/>
        </p:nvSpPr>
        <p:spPr>
          <a:xfrm>
            <a:off x="1783080" y="39319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 en el circuito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" y="45720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prioriza y explica; ninguna acción sobre una cuenta es automática. Decide una persona.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365760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3977640"/>
            <a:ext cx="640080" cy="64008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39319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conversacional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29400" y="45720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asistente guía al analista y responde preguntas sobre los datos en lenguaje natural.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Sentinel  ·  Diplomado en Ciencia de Datos G33  ·  Arellano Ortiz Andre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pajar a una lista corta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medible: reducir el volumen de alertas manteniendo el recall sobre los compromisos reales.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9456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1,051 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crudos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en 10 días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42900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43400" y="219456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343400" y="28803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/ día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43400" y="32461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cubren 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43400" y="361188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526280" y="4343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cuentas comprometidas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920240"/>
            <a:ext cx="342900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46720" y="219456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046720" y="28803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/ día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0" y="32461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cubren 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0" y="361188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229600" y="4343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cuentas comprometidas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39496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curva convierte «¿qué tan bueno es el modelo?» en «¿cuántos analistas cuesta cada punto de cobertura?».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Sentinel  ·  Diplomado en Ciencia de Datos G33  ·  Arellano Ortiz Andre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-1371600" y="38404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1A2C4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280160"/>
            <a:ext cx="274320" cy="274320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" y="1280160"/>
            <a:ext cx="274320" cy="274320"/>
          </a:xfrm>
          <a:prstGeom prst="ellipse">
            <a:avLst/>
          </a:prstGeom>
          <a:solidFill>
            <a:srgbClr val="EDA100"/>
          </a:solidFill>
          <a:ln/>
        </p:spPr>
      </p:sp>
      <p:sp>
        <p:nvSpPr>
          <p:cNvPr id="5" name="Shape 3"/>
          <p:cNvSpPr/>
          <p:nvPr/>
        </p:nvSpPr>
        <p:spPr>
          <a:xfrm>
            <a:off x="1408176" y="1280160"/>
            <a:ext cx="274320" cy="274320"/>
          </a:xfrm>
          <a:prstGeom prst="ellipse">
            <a:avLst/>
          </a:prstGeom>
          <a:solidFill>
            <a:srgbClr val="E3494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una brecha de +$200M USD</a:t>
            </a:r>
            <a:endParaRPr lang="en-US" sz="3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una lista corta, priorizada y explicada.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Sentinel no compite con el firewall ni con el antivirus: consume sus registros y devuelve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priorizada y explicada, con la decisión final siempre en manos de un analista.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funcional en vivo  ·  </a:t>
            </a:r>
            <a:pPr indent="0" marL="0">
              <a:buNone/>
            </a:pPr>
            <a:r>
              <a:rPr lang="en-US" sz="1500" dirty="0">
                <a:solidFill>
                  <a:srgbClr val="9F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desplegada + API + asistente conversacional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Arellano Ortiz Andre  ·  Diplomado en Ciencia de Datos G33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Sentinel</dc:title>
  <dc:subject>PptxGenJS Presentation</dc:subject>
  <dc:creator>Arellano Ortiz Andre</dc:creator>
  <cp:lastModifiedBy>Arellano Ortiz Andre</cp:lastModifiedBy>
  <cp:revision>1</cp:revision>
  <dcterms:created xsi:type="dcterms:W3CDTF">2026-07-24T07:20:43Z</dcterms:created>
  <dcterms:modified xsi:type="dcterms:W3CDTF">2026-07-24T07:20:43Z</dcterms:modified>
</cp:coreProperties>
</file>